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embeddedFontLs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Fira Mono Medium" panose="020B0609050000020004" pitchFamily="49" charset="0"/>
      <p:regular r:id="rId14"/>
    </p:embeddedFont>
    <p:embeddedFont>
      <p:font typeface="Schibsted Grotesk" panose="020B0604020202020204" charset="0"/>
      <p:regular r:id="rId15"/>
    </p:embeddedFont>
    <p:embeddedFont>
      <p:font typeface="Schibsted Grotesk Bold" panose="020B0604020202020204" charset="0"/>
      <p:regular r:id="rId16"/>
    </p:embeddedFont>
    <p:embeddedFont>
      <p:font typeface="Schibsted Grotesk ExtraBold" panose="020B0604020202020204" charset="0"/>
      <p:regular r:id="rId17"/>
    </p:embeddedFont>
    <p:embeddedFont>
      <p:font typeface="Schibsted Grotesk Medium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3A13"/>
    <a:srgbClr val="0F3B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33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966218"/>
            <a:ext cx="1137891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85347" y="612245"/>
            <a:ext cx="10769331" cy="3842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9600" b="1" dirty="0" err="1">
                <a:solidFill>
                  <a:schemeClr val="bg1"/>
                </a:solidFill>
                <a:latin typeface="Cambria" panose="02040503050406030204" pitchFamily="18" charset="0"/>
              </a:rPr>
              <a:t>CampusClubs</a:t>
            </a:r>
            <a:r>
              <a:rPr lang="en-US" sz="9600" b="1" dirty="0">
                <a:solidFill>
                  <a:schemeClr val="bg1"/>
                </a:solidFill>
                <a:latin typeface="Cambria" panose="02040503050406030204" pitchFamily="18" charset="0"/>
              </a:rPr>
              <a:t> : Feasibility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9600" b="1" i="0" dirty="0">
                <a:solidFill>
                  <a:schemeClr val="bg1"/>
                </a:solidFill>
                <a:effectLst/>
                <a:latin typeface="Cambria" panose="02040503050406030204" pitchFamily="18" charset="0"/>
              </a:rPr>
              <a:t>Study</a:t>
            </a:r>
            <a:r>
              <a:rPr lang="en-US" sz="7200" kern="100" spc="-144" dirty="0">
                <a:solidFill>
                  <a:schemeClr val="bg1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  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11182" y="4400550"/>
            <a:ext cx="2692333" cy="50701"/>
          </a:xfrm>
          <a:prstGeom prst="roundRect">
            <a:avLst>
              <a:gd name="adj" fmla="val 49999"/>
            </a:avLst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3" y="4684713"/>
            <a:ext cx="3147754" cy="1124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cs typeface="Schibsted Grotesk" pitchFamily="34" charset="-120"/>
              </a:rPr>
              <a:t>HRACHE Ayman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Schibsted Grotesk" pitchFamily="34" charset="0"/>
                <a:cs typeface="Schibsted Grotesk" pitchFamily="34" charset="-120"/>
              </a:rPr>
              <a:t>KHARBOUCH EL HOUCINE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cs typeface="Schibsted Grotesk" pitchFamily="34" charset="-120"/>
              </a:rPr>
              <a:t>BOULMELF M</a:t>
            </a:r>
            <a:r>
              <a:rPr lang="en-US" dirty="0">
                <a:solidFill>
                  <a:srgbClr val="FFFFFF"/>
                </a:solidFill>
                <a:latin typeface="Schibsted Grotesk" pitchFamily="34" charset="0"/>
                <a:cs typeface="Schibsted Grotesk" pitchFamily="34" charset="-120"/>
              </a:rPr>
              <a:t>ohamed</a:t>
            </a:r>
            <a:endParaRPr lang="en-US" sz="1800" dirty="0">
              <a:solidFill>
                <a:srgbClr val="FFFFFF"/>
              </a:solidFill>
              <a:latin typeface="Schibsted Grotesk" pitchFamily="34" charset="0"/>
              <a:cs typeface="Schibsted Grotesk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endParaRPr lang="en-US" sz="1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AA21F7A-47A3-4DFC-81B8-16A9FC4CB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308" y="6515070"/>
            <a:ext cx="1130692" cy="34293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65EC5B0-15EF-4B50-9A71-8293F6FAF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15970">
            <a:off x="9824587" y="4187532"/>
            <a:ext cx="358171" cy="1085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76DCB0-7653-4E84-BAE5-91E9A741274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494" y="280871"/>
            <a:ext cx="11734506" cy="470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100" spc="13" dirty="0">
                <a:solidFill>
                  <a:srgbClr val="0F3B2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FEASIBILITY VIEW :</a:t>
            </a:r>
            <a:endParaRPr lang="en-US" sz="2800" dirty="0">
              <a:solidFill>
                <a:srgbClr val="0F3B2E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189" y="838301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4400" kern="100" spc="-66" dirty="0"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Strong fit, manageable technical risk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189" y="1534716"/>
            <a:ext cx="3555911" cy="4866084"/>
          </a:xfrm>
          <a:prstGeom prst="roundRect">
            <a:avLst>
              <a:gd name="adj" fmla="val 3429"/>
            </a:avLst>
          </a:prstGeom>
          <a:solidFill>
            <a:srgbClr val="0F3B2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82" y="1839516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582" y="2411016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Build path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6582" y="2950071"/>
            <a:ext cx="299712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Flutter/Dart mobile app, Java + Spring Boot backend, MySQL database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17892" y="1534716"/>
            <a:ext cx="3555911" cy="4866084"/>
          </a:xfrm>
          <a:prstGeom prst="roundRect">
            <a:avLst>
              <a:gd name="adj" fmla="val 3429"/>
            </a:avLst>
          </a:prstGeom>
          <a:solidFill>
            <a:srgbClr val="0F3B2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85" y="1839516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411016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97285" y="2950071"/>
            <a:ext cx="2997125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One place for clubs, memberships, events, announcements, and elections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78595" y="1534716"/>
            <a:ext cx="3555911" cy="4866084"/>
          </a:xfrm>
          <a:prstGeom prst="roundRect">
            <a:avLst>
              <a:gd name="adj" fmla="val 3429"/>
            </a:avLst>
          </a:prstGeom>
          <a:solidFill>
            <a:srgbClr val="F6B93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88" y="1839516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57988" y="2411016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chibsted Grotesk Medium" pitchFamily="34" charset="0"/>
                <a:ea typeface="Schibsted Grotesk Medium" pitchFamily="34" charset="-122"/>
                <a:cs typeface="Schibsted Grotesk Medium" pitchFamily="34" charset="-120"/>
              </a:rPr>
              <a:t>Main risks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457988" y="2950071"/>
            <a:ext cx="299712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Learning Flutter, secure voting, role management, and notifications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1793739" y="6526510"/>
            <a:ext cx="39795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1C47F1A-79FC-49AB-BAF2-0ED344D1FCB6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189" y="307975"/>
            <a:ext cx="7680728" cy="58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kern="100" spc="13" dirty="0">
                <a:solidFill>
                  <a:srgbClr val="0F3B2E"/>
                </a:solidFill>
                <a:latin typeface="Fira Mono Medium" pitchFamily="34" charset="0"/>
                <a:ea typeface="Fira Mono Medium" pitchFamily="34" charset="-122"/>
              </a:rPr>
              <a:t>SCOPE DECISION :</a:t>
            </a:r>
          </a:p>
        </p:txBody>
      </p:sp>
      <p:sp>
        <p:nvSpPr>
          <p:cNvPr id="3" name="Text 1"/>
          <p:cNvSpPr/>
          <p:nvPr/>
        </p:nvSpPr>
        <p:spPr>
          <a:xfrm>
            <a:off x="457189" y="979785"/>
            <a:ext cx="768072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chemeClr val="tx1">
                    <a:lumMod val="85000"/>
                    <a:lumOff val="15000"/>
                  </a:schemeClr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Eight weeks works if scope stays disciplined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442610" y="457200"/>
            <a:ext cx="3291897" cy="1695946"/>
          </a:xfrm>
          <a:prstGeom prst="rect">
            <a:avLst/>
          </a:prstGeom>
          <a:solidFill>
            <a:srgbClr val="C5E35A"/>
          </a:solidFill>
          <a:ln/>
        </p:spPr>
      </p:sp>
      <p:sp>
        <p:nvSpPr>
          <p:cNvPr id="5" name="Text 3"/>
          <p:cNvSpPr/>
          <p:nvPr/>
        </p:nvSpPr>
        <p:spPr>
          <a:xfrm>
            <a:off x="8722003" y="1089223"/>
            <a:ext cx="2733111" cy="581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 dirty="0">
                <a:solidFill>
                  <a:srgbClr val="000000"/>
                </a:solidFill>
                <a:latin typeface="Schibsted Grotesk ExtraBold" pitchFamily="34" charset="0"/>
                <a:ea typeface="Schibsted Grotesk ExtraBold" pitchFamily="34" charset="-122"/>
                <a:cs typeface="Schibsted Grotesk ExtraBold" pitchFamily="34" charset="-120"/>
              </a:rPr>
              <a:t>8 weeks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457189" y="5520730"/>
            <a:ext cx="11277318" cy="880070"/>
          </a:xfrm>
          <a:prstGeom prst="roundRect">
            <a:avLst>
              <a:gd name="adj" fmla="val 10909"/>
            </a:avLst>
          </a:prstGeom>
          <a:solidFill>
            <a:srgbClr val="183A13"/>
          </a:solidFill>
          <a:ln/>
        </p:spPr>
      </p:sp>
      <p:sp>
        <p:nvSpPr>
          <p:cNvPr id="22" name="Text 20"/>
          <p:cNvSpPr/>
          <p:nvPr/>
        </p:nvSpPr>
        <p:spPr>
          <a:xfrm>
            <a:off x="685783" y="5806480"/>
            <a:ext cx="114297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chibsted Grotesk Bold" pitchFamily="34" charset="0"/>
                <a:ea typeface="Schibsted Grotesk Bold" pitchFamily="34" charset="-122"/>
                <a:cs typeface="Schibsted Grotesk Bold" pitchFamily="34" charset="-120"/>
              </a:rPr>
              <a:t>Recommendation:</a:t>
            </a:r>
            <a:r>
              <a:rPr lang="en-US" sz="180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 proceed, deliver the core features first and treat advanced ones as optional.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91953" y="6526510"/>
            <a:ext cx="39974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E3EEE7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03</a:t>
            </a:r>
            <a:endParaRPr lang="en-US" sz="1200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B9584DC-81DF-43BD-B09A-8F34C404CAB1}"/>
              </a:ext>
            </a:extLst>
          </p:cNvPr>
          <p:cNvGrpSpPr/>
          <p:nvPr/>
        </p:nvGrpSpPr>
        <p:grpSpPr>
          <a:xfrm>
            <a:off x="858232" y="2279642"/>
            <a:ext cx="10475232" cy="2885210"/>
            <a:chOff x="502920" y="1024128"/>
            <a:chExt cx="10625328" cy="4816722"/>
          </a:xfrm>
        </p:grpSpPr>
        <p:sp>
          <p:nvSpPr>
            <p:cNvPr id="26" name="TextBox 3">
              <a:extLst>
                <a:ext uri="{FF2B5EF4-FFF2-40B4-BE49-F238E27FC236}">
                  <a16:creationId xmlns:a16="http://schemas.microsoft.com/office/drawing/2014/main" id="{1C52356C-6BB8-4C2C-8B57-4C2B3ED7C7E0}"/>
                </a:ext>
              </a:extLst>
            </p:cNvPr>
            <p:cNvSpPr txBox="1"/>
            <p:nvPr/>
          </p:nvSpPr>
          <p:spPr>
            <a:xfrm>
              <a:off x="621792" y="1024128"/>
              <a:ext cx="243370" cy="47536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300">
                  <a:solidFill>
                    <a:srgbClr val="6B7280"/>
                  </a:solidFill>
                </a:defRPr>
              </a:pPr>
              <a:endParaRPr dirty="0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9805FEF9-352C-4343-B4BD-5A2269C38706}"/>
                </a:ext>
              </a:extLst>
            </p:cNvPr>
            <p:cNvSpPr txBox="1"/>
            <p:nvPr/>
          </p:nvSpPr>
          <p:spPr>
            <a:xfrm>
              <a:off x="3977639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W1</a:t>
              </a:r>
            </a:p>
          </p:txBody>
        </p:sp>
        <p:sp>
          <p:nvSpPr>
            <p:cNvPr id="28" name="TextBox 5">
              <a:extLst>
                <a:ext uri="{FF2B5EF4-FFF2-40B4-BE49-F238E27FC236}">
                  <a16:creationId xmlns:a16="http://schemas.microsoft.com/office/drawing/2014/main" id="{7B785566-8074-437C-8296-545F320932F5}"/>
                </a:ext>
              </a:extLst>
            </p:cNvPr>
            <p:cNvSpPr txBox="1"/>
            <p:nvPr/>
          </p:nvSpPr>
          <p:spPr>
            <a:xfrm>
              <a:off x="48920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W2</a:t>
              </a:r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81EC6193-4B74-4657-8043-D45B202604C2}"/>
                </a:ext>
              </a:extLst>
            </p:cNvPr>
            <p:cNvSpPr txBox="1"/>
            <p:nvPr/>
          </p:nvSpPr>
          <p:spPr>
            <a:xfrm>
              <a:off x="58064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rPr dirty="0"/>
                <a:t>W3</a:t>
              </a:r>
            </a:p>
          </p:txBody>
        </p:sp>
        <p:sp>
          <p:nvSpPr>
            <p:cNvPr id="30" name="TextBox 7">
              <a:extLst>
                <a:ext uri="{FF2B5EF4-FFF2-40B4-BE49-F238E27FC236}">
                  <a16:creationId xmlns:a16="http://schemas.microsoft.com/office/drawing/2014/main" id="{DCD3BF20-C765-41AB-BE75-4C92497EEF5B}"/>
                </a:ext>
              </a:extLst>
            </p:cNvPr>
            <p:cNvSpPr txBox="1"/>
            <p:nvPr/>
          </p:nvSpPr>
          <p:spPr>
            <a:xfrm>
              <a:off x="67208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W4</a:t>
              </a:r>
            </a:p>
          </p:txBody>
        </p:sp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514C26D7-FAF9-42C0-83FB-A5BE13E50DD7}"/>
                </a:ext>
              </a:extLst>
            </p:cNvPr>
            <p:cNvSpPr txBox="1"/>
            <p:nvPr/>
          </p:nvSpPr>
          <p:spPr>
            <a:xfrm>
              <a:off x="76352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W5</a:t>
              </a:r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7907A816-5733-40AE-97F1-BD7E58234CF0}"/>
                </a:ext>
              </a:extLst>
            </p:cNvPr>
            <p:cNvSpPr txBox="1"/>
            <p:nvPr/>
          </p:nvSpPr>
          <p:spPr>
            <a:xfrm>
              <a:off x="85496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W6</a:t>
              </a:r>
            </a:p>
          </p:txBody>
        </p:sp>
        <p:sp>
          <p:nvSpPr>
            <p:cNvPr id="33" name="TextBox 10">
              <a:extLst>
                <a:ext uri="{FF2B5EF4-FFF2-40B4-BE49-F238E27FC236}">
                  <a16:creationId xmlns:a16="http://schemas.microsoft.com/office/drawing/2014/main" id="{57357E39-24DA-4370-94B5-05889DB3D05F}"/>
                </a:ext>
              </a:extLst>
            </p:cNvPr>
            <p:cNvSpPr txBox="1"/>
            <p:nvPr/>
          </p:nvSpPr>
          <p:spPr>
            <a:xfrm>
              <a:off x="94640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W7</a:t>
              </a:r>
            </a:p>
          </p:txBody>
        </p:sp>
        <p:sp>
          <p:nvSpPr>
            <p:cNvPr id="34" name="TextBox 11">
              <a:extLst>
                <a:ext uri="{FF2B5EF4-FFF2-40B4-BE49-F238E27FC236}">
                  <a16:creationId xmlns:a16="http://schemas.microsoft.com/office/drawing/2014/main" id="{FF345324-ACF1-4687-B9A7-307A62724434}"/>
                </a:ext>
              </a:extLst>
            </p:cNvPr>
            <p:cNvSpPr txBox="1"/>
            <p:nvPr/>
          </p:nvSpPr>
          <p:spPr>
            <a:xfrm>
              <a:off x="10378440" y="1325880"/>
              <a:ext cx="7315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100" b="1"/>
              </a:pPr>
              <a:r>
                <a:t>W8</a:t>
              </a:r>
            </a:p>
          </p:txBody>
        </p:sp>
        <p:sp>
          <p:nvSpPr>
            <p:cNvPr id="35" name="TextBox 12">
              <a:extLst>
                <a:ext uri="{FF2B5EF4-FFF2-40B4-BE49-F238E27FC236}">
                  <a16:creationId xmlns:a16="http://schemas.microsoft.com/office/drawing/2014/main" id="{29B6069E-4D25-445B-8196-9F3568F6FB02}"/>
                </a:ext>
              </a:extLst>
            </p:cNvPr>
            <p:cNvSpPr txBox="1"/>
            <p:nvPr/>
          </p:nvSpPr>
          <p:spPr>
            <a:xfrm>
              <a:off x="502920" y="1691640"/>
              <a:ext cx="2837646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Requirements / UML / DB / Architecture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7F5287F-F8EE-4DCE-A04A-3D02DD76A65C}"/>
                </a:ext>
              </a:extLst>
            </p:cNvPr>
            <p:cNvSpPr/>
            <p:nvPr/>
          </p:nvSpPr>
          <p:spPr>
            <a:xfrm>
              <a:off x="3977639" y="1691640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B8820A0-60EC-4A9C-84E0-954FB70B14B5}"/>
                </a:ext>
              </a:extLst>
            </p:cNvPr>
            <p:cNvSpPr/>
            <p:nvPr/>
          </p:nvSpPr>
          <p:spPr>
            <a:xfrm>
              <a:off x="48920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F9E9D24-9947-415E-A96B-233FE85A658F}"/>
                </a:ext>
              </a:extLst>
            </p:cNvPr>
            <p:cNvSpPr/>
            <p:nvPr/>
          </p:nvSpPr>
          <p:spPr>
            <a:xfrm>
              <a:off x="58064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75B60BE-BD1B-4DE1-875D-826480E3B5C7}"/>
                </a:ext>
              </a:extLst>
            </p:cNvPr>
            <p:cNvSpPr/>
            <p:nvPr/>
          </p:nvSpPr>
          <p:spPr>
            <a:xfrm>
              <a:off x="67208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ADC551D-2664-4396-B296-1B9B54313A04}"/>
                </a:ext>
              </a:extLst>
            </p:cNvPr>
            <p:cNvSpPr/>
            <p:nvPr/>
          </p:nvSpPr>
          <p:spPr>
            <a:xfrm>
              <a:off x="76352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AF579E-8588-4A6D-9041-BE497841C992}"/>
                </a:ext>
              </a:extLst>
            </p:cNvPr>
            <p:cNvSpPr/>
            <p:nvPr/>
          </p:nvSpPr>
          <p:spPr>
            <a:xfrm>
              <a:off x="85496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5A7B903-7682-468F-849E-E1F6FA05D3E3}"/>
                </a:ext>
              </a:extLst>
            </p:cNvPr>
            <p:cNvSpPr/>
            <p:nvPr/>
          </p:nvSpPr>
          <p:spPr>
            <a:xfrm>
              <a:off x="94640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89005E3-54CD-4948-ADCF-EE7D5F6A4443}"/>
                </a:ext>
              </a:extLst>
            </p:cNvPr>
            <p:cNvSpPr/>
            <p:nvPr/>
          </p:nvSpPr>
          <p:spPr>
            <a:xfrm>
              <a:off x="10378440" y="169164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21">
              <a:extLst>
                <a:ext uri="{FF2B5EF4-FFF2-40B4-BE49-F238E27FC236}">
                  <a16:creationId xmlns:a16="http://schemas.microsoft.com/office/drawing/2014/main" id="{FA7FB7E3-93F8-4F53-91B0-69EDF6C7EEAC}"/>
                </a:ext>
              </a:extLst>
            </p:cNvPr>
            <p:cNvSpPr txBox="1"/>
            <p:nvPr/>
          </p:nvSpPr>
          <p:spPr>
            <a:xfrm>
              <a:off x="502920" y="2221992"/>
              <a:ext cx="1946613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Flutter UI &amp; Authentication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40168F8-48E0-43FD-99C7-A20E2A3174B7}"/>
                </a:ext>
              </a:extLst>
            </p:cNvPr>
            <p:cNvSpPr/>
            <p:nvPr/>
          </p:nvSpPr>
          <p:spPr>
            <a:xfrm>
              <a:off x="3977639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7233C43-8923-45DC-A8F4-6DA49B806073}"/>
                </a:ext>
              </a:extLst>
            </p:cNvPr>
            <p:cNvSpPr/>
            <p:nvPr/>
          </p:nvSpPr>
          <p:spPr>
            <a:xfrm>
              <a:off x="4892040" y="2221992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82D4BCF-C0E0-40EB-958B-D8155B743E49}"/>
                </a:ext>
              </a:extLst>
            </p:cNvPr>
            <p:cNvSpPr/>
            <p:nvPr/>
          </p:nvSpPr>
          <p:spPr>
            <a:xfrm>
              <a:off x="5806440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A47D1AA-0FEB-4D5F-B0FC-0857B669DB54}"/>
                </a:ext>
              </a:extLst>
            </p:cNvPr>
            <p:cNvSpPr/>
            <p:nvPr/>
          </p:nvSpPr>
          <p:spPr>
            <a:xfrm>
              <a:off x="6720840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6A36D44-0F31-40AD-8A2E-870F09E75936}"/>
                </a:ext>
              </a:extLst>
            </p:cNvPr>
            <p:cNvSpPr/>
            <p:nvPr/>
          </p:nvSpPr>
          <p:spPr>
            <a:xfrm>
              <a:off x="7635240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EA7DEA2-FC43-4093-8932-1C53DBF0C330}"/>
                </a:ext>
              </a:extLst>
            </p:cNvPr>
            <p:cNvSpPr/>
            <p:nvPr/>
          </p:nvSpPr>
          <p:spPr>
            <a:xfrm>
              <a:off x="8549640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7827E90-F162-40D9-AA90-EF3EFEF58007}"/>
                </a:ext>
              </a:extLst>
            </p:cNvPr>
            <p:cNvSpPr/>
            <p:nvPr/>
          </p:nvSpPr>
          <p:spPr>
            <a:xfrm>
              <a:off x="9464040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CF0ACE-C3C8-4077-A649-CB77074481DC}"/>
                </a:ext>
              </a:extLst>
            </p:cNvPr>
            <p:cNvSpPr/>
            <p:nvPr/>
          </p:nvSpPr>
          <p:spPr>
            <a:xfrm>
              <a:off x="10378440" y="222199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30">
              <a:extLst>
                <a:ext uri="{FF2B5EF4-FFF2-40B4-BE49-F238E27FC236}">
                  <a16:creationId xmlns:a16="http://schemas.microsoft.com/office/drawing/2014/main" id="{CF1ECAE5-BD2A-40D3-8416-B21BAD4D00BA}"/>
                </a:ext>
              </a:extLst>
            </p:cNvPr>
            <p:cNvSpPr txBox="1"/>
            <p:nvPr/>
          </p:nvSpPr>
          <p:spPr>
            <a:xfrm>
              <a:off x="502920" y="2752344"/>
              <a:ext cx="1896209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Backend &amp; DB Integration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A922A78-7E84-4F9D-BB66-FC3FA5281076}"/>
                </a:ext>
              </a:extLst>
            </p:cNvPr>
            <p:cNvSpPr/>
            <p:nvPr/>
          </p:nvSpPr>
          <p:spPr>
            <a:xfrm>
              <a:off x="3977639" y="275234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EDD7EA1-F1F1-4729-B1EF-F5EB45EC2EA4}"/>
                </a:ext>
              </a:extLst>
            </p:cNvPr>
            <p:cNvSpPr/>
            <p:nvPr/>
          </p:nvSpPr>
          <p:spPr>
            <a:xfrm>
              <a:off x="4892040" y="2752344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5373860-661C-4C5B-9E51-E71EA96539E8}"/>
                </a:ext>
              </a:extLst>
            </p:cNvPr>
            <p:cNvSpPr/>
            <p:nvPr/>
          </p:nvSpPr>
          <p:spPr>
            <a:xfrm>
              <a:off x="5806440" y="2752344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DA09066-285E-480F-92CD-563D599A320B}"/>
                </a:ext>
              </a:extLst>
            </p:cNvPr>
            <p:cNvSpPr/>
            <p:nvPr/>
          </p:nvSpPr>
          <p:spPr>
            <a:xfrm>
              <a:off x="6720840" y="275234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7E681E9-1A85-4CFC-B30D-832CC3305BC0}"/>
                </a:ext>
              </a:extLst>
            </p:cNvPr>
            <p:cNvSpPr/>
            <p:nvPr/>
          </p:nvSpPr>
          <p:spPr>
            <a:xfrm>
              <a:off x="7635240" y="275234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25B90D0-E7EA-47A3-8A6A-8CEA046B74A4}"/>
                </a:ext>
              </a:extLst>
            </p:cNvPr>
            <p:cNvSpPr/>
            <p:nvPr/>
          </p:nvSpPr>
          <p:spPr>
            <a:xfrm>
              <a:off x="8549640" y="275234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B7BCB2F-8366-4E16-BF0E-6A5D7C67AEC0}"/>
                </a:ext>
              </a:extLst>
            </p:cNvPr>
            <p:cNvSpPr/>
            <p:nvPr/>
          </p:nvSpPr>
          <p:spPr>
            <a:xfrm>
              <a:off x="9464040" y="275234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60A6008-DFF8-47C8-A276-C3A6B29E6765}"/>
                </a:ext>
              </a:extLst>
            </p:cNvPr>
            <p:cNvSpPr/>
            <p:nvPr/>
          </p:nvSpPr>
          <p:spPr>
            <a:xfrm>
              <a:off x="10378440" y="275234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39">
              <a:extLst>
                <a:ext uri="{FF2B5EF4-FFF2-40B4-BE49-F238E27FC236}">
                  <a16:creationId xmlns:a16="http://schemas.microsoft.com/office/drawing/2014/main" id="{6B81F199-EE89-4D46-87DE-217F93403429}"/>
                </a:ext>
              </a:extLst>
            </p:cNvPr>
            <p:cNvSpPr txBox="1"/>
            <p:nvPr/>
          </p:nvSpPr>
          <p:spPr>
            <a:xfrm>
              <a:off x="502920" y="3282696"/>
              <a:ext cx="1348256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Clubs + BDE/BDS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FE123AB-AC5E-4453-B1ED-72132C2B72D5}"/>
                </a:ext>
              </a:extLst>
            </p:cNvPr>
            <p:cNvSpPr/>
            <p:nvPr/>
          </p:nvSpPr>
          <p:spPr>
            <a:xfrm>
              <a:off x="3977639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6586638-B05E-42F1-8E67-C186B0CD6F61}"/>
                </a:ext>
              </a:extLst>
            </p:cNvPr>
            <p:cNvSpPr/>
            <p:nvPr/>
          </p:nvSpPr>
          <p:spPr>
            <a:xfrm>
              <a:off x="4892040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C1C2B58-24C6-4F91-AA87-0CFE7244F26E}"/>
                </a:ext>
              </a:extLst>
            </p:cNvPr>
            <p:cNvSpPr/>
            <p:nvPr/>
          </p:nvSpPr>
          <p:spPr>
            <a:xfrm>
              <a:off x="5806440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761B66D-61CC-489E-9E04-F37CFE2433FD}"/>
                </a:ext>
              </a:extLst>
            </p:cNvPr>
            <p:cNvSpPr/>
            <p:nvPr/>
          </p:nvSpPr>
          <p:spPr>
            <a:xfrm>
              <a:off x="6720840" y="3282696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43FB0D8-61EA-4F58-9D68-CA6931FDCD8B}"/>
                </a:ext>
              </a:extLst>
            </p:cNvPr>
            <p:cNvSpPr/>
            <p:nvPr/>
          </p:nvSpPr>
          <p:spPr>
            <a:xfrm>
              <a:off x="7635240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F51C87F-6EF1-41F1-85B7-51C05B0278E2}"/>
                </a:ext>
              </a:extLst>
            </p:cNvPr>
            <p:cNvSpPr/>
            <p:nvPr/>
          </p:nvSpPr>
          <p:spPr>
            <a:xfrm>
              <a:off x="8549640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94661B6-6A87-470B-BFC6-1235406ABE6C}"/>
                </a:ext>
              </a:extLst>
            </p:cNvPr>
            <p:cNvSpPr/>
            <p:nvPr/>
          </p:nvSpPr>
          <p:spPr>
            <a:xfrm>
              <a:off x="9464040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48BF428-99F5-4AB4-878F-8B0A018849C1}"/>
                </a:ext>
              </a:extLst>
            </p:cNvPr>
            <p:cNvSpPr/>
            <p:nvPr/>
          </p:nvSpPr>
          <p:spPr>
            <a:xfrm>
              <a:off x="10378440" y="3282696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48">
              <a:extLst>
                <a:ext uri="{FF2B5EF4-FFF2-40B4-BE49-F238E27FC236}">
                  <a16:creationId xmlns:a16="http://schemas.microsoft.com/office/drawing/2014/main" id="{CE09E910-FCD5-47B8-B3EA-B1B5026CC2E9}"/>
                </a:ext>
              </a:extLst>
            </p:cNvPr>
            <p:cNvSpPr txBox="1"/>
            <p:nvPr/>
          </p:nvSpPr>
          <p:spPr>
            <a:xfrm>
              <a:off x="502920" y="3813048"/>
              <a:ext cx="1891330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Events + Announcements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783A52C-3341-41CA-A537-140F64362A03}"/>
                </a:ext>
              </a:extLst>
            </p:cNvPr>
            <p:cNvSpPr/>
            <p:nvPr/>
          </p:nvSpPr>
          <p:spPr>
            <a:xfrm>
              <a:off x="3977639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93B20F-454A-493E-8097-EBF44B9CB550}"/>
                </a:ext>
              </a:extLst>
            </p:cNvPr>
            <p:cNvSpPr/>
            <p:nvPr/>
          </p:nvSpPr>
          <p:spPr>
            <a:xfrm>
              <a:off x="4892040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7BFC5F7-1E94-4038-BEED-FD60786FF7C8}"/>
                </a:ext>
              </a:extLst>
            </p:cNvPr>
            <p:cNvSpPr/>
            <p:nvPr/>
          </p:nvSpPr>
          <p:spPr>
            <a:xfrm>
              <a:off x="5806440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51815A1-BFEA-4BAB-8CA1-4B73FBF58FD5}"/>
                </a:ext>
              </a:extLst>
            </p:cNvPr>
            <p:cNvSpPr/>
            <p:nvPr/>
          </p:nvSpPr>
          <p:spPr>
            <a:xfrm>
              <a:off x="6720840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FA19F8B-FCD3-4BB5-BAA3-A3EB45F852D6}"/>
                </a:ext>
              </a:extLst>
            </p:cNvPr>
            <p:cNvSpPr/>
            <p:nvPr/>
          </p:nvSpPr>
          <p:spPr>
            <a:xfrm>
              <a:off x="7635240" y="3813048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A1DE7CE-5198-4A38-89DA-A2C4F4389C55}"/>
                </a:ext>
              </a:extLst>
            </p:cNvPr>
            <p:cNvSpPr/>
            <p:nvPr/>
          </p:nvSpPr>
          <p:spPr>
            <a:xfrm>
              <a:off x="8549640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13BA7C8-958F-42BB-912A-C4ECCE5167C0}"/>
                </a:ext>
              </a:extLst>
            </p:cNvPr>
            <p:cNvSpPr/>
            <p:nvPr/>
          </p:nvSpPr>
          <p:spPr>
            <a:xfrm>
              <a:off x="9464040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3636774-BE67-4014-9982-F9904CD8D89A}"/>
                </a:ext>
              </a:extLst>
            </p:cNvPr>
            <p:cNvSpPr/>
            <p:nvPr/>
          </p:nvSpPr>
          <p:spPr>
            <a:xfrm>
              <a:off x="10378440" y="3813048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57">
              <a:extLst>
                <a:ext uri="{FF2B5EF4-FFF2-40B4-BE49-F238E27FC236}">
                  <a16:creationId xmlns:a16="http://schemas.microsoft.com/office/drawing/2014/main" id="{DF11542F-AA35-4D95-AB4C-42CDFD1EF096}"/>
                </a:ext>
              </a:extLst>
            </p:cNvPr>
            <p:cNvSpPr txBox="1"/>
            <p:nvPr/>
          </p:nvSpPr>
          <p:spPr>
            <a:xfrm>
              <a:off x="502920" y="4343400"/>
              <a:ext cx="1619794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Voting + Notifications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A90BF4D-172E-4883-A1AF-FB5862FA5DD4}"/>
                </a:ext>
              </a:extLst>
            </p:cNvPr>
            <p:cNvSpPr/>
            <p:nvPr/>
          </p:nvSpPr>
          <p:spPr>
            <a:xfrm>
              <a:off x="3977639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D4CF63D-20EC-46CA-9683-A4A5ED5D7750}"/>
                </a:ext>
              </a:extLst>
            </p:cNvPr>
            <p:cNvSpPr/>
            <p:nvPr/>
          </p:nvSpPr>
          <p:spPr>
            <a:xfrm>
              <a:off x="4892040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605AD44-72DA-44E5-850A-A8623FAA9FBB}"/>
                </a:ext>
              </a:extLst>
            </p:cNvPr>
            <p:cNvSpPr/>
            <p:nvPr/>
          </p:nvSpPr>
          <p:spPr>
            <a:xfrm>
              <a:off x="5806440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2388EA6-9D1C-4F91-BBE1-29266D96F42D}"/>
                </a:ext>
              </a:extLst>
            </p:cNvPr>
            <p:cNvSpPr/>
            <p:nvPr/>
          </p:nvSpPr>
          <p:spPr>
            <a:xfrm>
              <a:off x="6720840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522CF60-BC38-43FF-92E2-6D3DBAF5E7A0}"/>
                </a:ext>
              </a:extLst>
            </p:cNvPr>
            <p:cNvSpPr/>
            <p:nvPr/>
          </p:nvSpPr>
          <p:spPr>
            <a:xfrm>
              <a:off x="7635240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B65554E-6693-4322-8550-167800DFFA40}"/>
                </a:ext>
              </a:extLst>
            </p:cNvPr>
            <p:cNvSpPr/>
            <p:nvPr/>
          </p:nvSpPr>
          <p:spPr>
            <a:xfrm>
              <a:off x="8549640" y="4343400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35E0E80-A8E2-45DA-8433-5B22CE8A5134}"/>
                </a:ext>
              </a:extLst>
            </p:cNvPr>
            <p:cNvSpPr/>
            <p:nvPr/>
          </p:nvSpPr>
          <p:spPr>
            <a:xfrm>
              <a:off x="9464040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B9446AB-A00A-404B-AAA3-3794C962FC7D}"/>
                </a:ext>
              </a:extLst>
            </p:cNvPr>
            <p:cNvSpPr/>
            <p:nvPr/>
          </p:nvSpPr>
          <p:spPr>
            <a:xfrm>
              <a:off x="10378440" y="4343400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TextBox 66">
              <a:extLst>
                <a:ext uri="{FF2B5EF4-FFF2-40B4-BE49-F238E27FC236}">
                  <a16:creationId xmlns:a16="http://schemas.microsoft.com/office/drawing/2014/main" id="{63590354-A63D-4260-8F63-092D83555A66}"/>
                </a:ext>
              </a:extLst>
            </p:cNvPr>
            <p:cNvSpPr txBox="1"/>
            <p:nvPr/>
          </p:nvSpPr>
          <p:spPr>
            <a:xfrm>
              <a:off x="502920" y="4873752"/>
              <a:ext cx="2180754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Testing / Security / Bug Fixing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6306E87-9FEF-447C-B173-148C4112FC2C}"/>
                </a:ext>
              </a:extLst>
            </p:cNvPr>
            <p:cNvSpPr/>
            <p:nvPr/>
          </p:nvSpPr>
          <p:spPr>
            <a:xfrm>
              <a:off x="3977639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47FB6E6-27A7-4DC1-963E-4FFAC248953E}"/>
                </a:ext>
              </a:extLst>
            </p:cNvPr>
            <p:cNvSpPr/>
            <p:nvPr/>
          </p:nvSpPr>
          <p:spPr>
            <a:xfrm>
              <a:off x="4892040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E86C8618-7D1D-4073-9131-5E8D4EF961FF}"/>
                </a:ext>
              </a:extLst>
            </p:cNvPr>
            <p:cNvSpPr/>
            <p:nvPr/>
          </p:nvSpPr>
          <p:spPr>
            <a:xfrm>
              <a:off x="5806440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A7DA41A-DB62-4CD0-865D-5416AB5A1724}"/>
                </a:ext>
              </a:extLst>
            </p:cNvPr>
            <p:cNvSpPr/>
            <p:nvPr/>
          </p:nvSpPr>
          <p:spPr>
            <a:xfrm>
              <a:off x="6720840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C96F7AB-5F21-4AA4-BFD6-E44B835560BD}"/>
                </a:ext>
              </a:extLst>
            </p:cNvPr>
            <p:cNvSpPr/>
            <p:nvPr/>
          </p:nvSpPr>
          <p:spPr>
            <a:xfrm>
              <a:off x="7635240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00D5E44-E151-42BE-B1E6-B674A6426815}"/>
                </a:ext>
              </a:extLst>
            </p:cNvPr>
            <p:cNvSpPr/>
            <p:nvPr/>
          </p:nvSpPr>
          <p:spPr>
            <a:xfrm>
              <a:off x="8549640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74A6A0B-982E-4559-A62B-F09F956C66E5}"/>
                </a:ext>
              </a:extLst>
            </p:cNvPr>
            <p:cNvSpPr/>
            <p:nvPr/>
          </p:nvSpPr>
          <p:spPr>
            <a:xfrm>
              <a:off x="9464040" y="4873752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DE568E5D-BA0D-4DDB-A4EE-FA25C9141A62}"/>
                </a:ext>
              </a:extLst>
            </p:cNvPr>
            <p:cNvSpPr/>
            <p:nvPr/>
          </p:nvSpPr>
          <p:spPr>
            <a:xfrm>
              <a:off x="10378440" y="4873752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75">
              <a:extLst>
                <a:ext uri="{FF2B5EF4-FFF2-40B4-BE49-F238E27FC236}">
                  <a16:creationId xmlns:a16="http://schemas.microsoft.com/office/drawing/2014/main" id="{70531168-59BF-43B5-BD9F-72A59C434CA6}"/>
                </a:ext>
              </a:extLst>
            </p:cNvPr>
            <p:cNvSpPr txBox="1"/>
            <p:nvPr/>
          </p:nvSpPr>
          <p:spPr>
            <a:xfrm>
              <a:off x="502920" y="5404104"/>
              <a:ext cx="2720577" cy="4367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 sz="1100">
                  <a:solidFill>
                    <a:srgbClr val="1F2937"/>
                  </a:solidFill>
                </a:defRPr>
              </a:pPr>
              <a:r>
                <a:rPr sz="1100" b="1" dirty="0">
                  <a:solidFill>
                    <a:srgbClr val="183A13"/>
                  </a:solidFill>
                  <a:latin typeface="Schibsted Grotesk" pitchFamily="34" charset="0"/>
                  <a:cs typeface="Schibsted Grotesk" pitchFamily="34" charset="-120"/>
                </a:rPr>
                <a:t>Final Integration / Docs / Presentation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5DF90BF-C2E4-472A-9B0E-A0CD256B43B9}"/>
                </a:ext>
              </a:extLst>
            </p:cNvPr>
            <p:cNvSpPr/>
            <p:nvPr/>
          </p:nvSpPr>
          <p:spPr>
            <a:xfrm>
              <a:off x="3977639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86F7B2C-18BE-4E3C-AA35-DA3B7B49C149}"/>
                </a:ext>
              </a:extLst>
            </p:cNvPr>
            <p:cNvSpPr/>
            <p:nvPr/>
          </p:nvSpPr>
          <p:spPr>
            <a:xfrm>
              <a:off x="4892040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1AD3BFA-131D-4E58-9C26-8B6C6540FC1C}"/>
                </a:ext>
              </a:extLst>
            </p:cNvPr>
            <p:cNvSpPr/>
            <p:nvPr/>
          </p:nvSpPr>
          <p:spPr>
            <a:xfrm>
              <a:off x="5806440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3B10A79-C4C2-47D9-9A7F-17359914DE73}"/>
                </a:ext>
              </a:extLst>
            </p:cNvPr>
            <p:cNvSpPr/>
            <p:nvPr/>
          </p:nvSpPr>
          <p:spPr>
            <a:xfrm>
              <a:off x="6720840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0964277-5439-4887-98B4-DE3E755779EF}"/>
                </a:ext>
              </a:extLst>
            </p:cNvPr>
            <p:cNvSpPr/>
            <p:nvPr/>
          </p:nvSpPr>
          <p:spPr>
            <a:xfrm>
              <a:off x="7635240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282DB85F-1711-45D9-979A-D5B98E7817CE}"/>
                </a:ext>
              </a:extLst>
            </p:cNvPr>
            <p:cNvSpPr/>
            <p:nvPr/>
          </p:nvSpPr>
          <p:spPr>
            <a:xfrm>
              <a:off x="8549640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080DCD3-8BCC-4D84-BA79-9F4DD14B7F17}"/>
                </a:ext>
              </a:extLst>
            </p:cNvPr>
            <p:cNvSpPr/>
            <p:nvPr/>
          </p:nvSpPr>
          <p:spPr>
            <a:xfrm>
              <a:off x="9464040" y="5404104"/>
              <a:ext cx="749808" cy="274320"/>
            </a:xfrm>
            <a:prstGeom prst="rect">
              <a:avLst/>
            </a:prstGeom>
            <a:solidFill>
              <a:srgbClr val="E7ED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1E5A5A-69BA-4DFC-98A6-BAC5382D8529}"/>
                </a:ext>
              </a:extLst>
            </p:cNvPr>
            <p:cNvSpPr/>
            <p:nvPr/>
          </p:nvSpPr>
          <p:spPr>
            <a:xfrm>
              <a:off x="10378440" y="5404104"/>
              <a:ext cx="749808" cy="274320"/>
            </a:xfrm>
            <a:prstGeom prst="rect">
              <a:avLst/>
            </a:prstGeom>
            <a:solidFill>
              <a:srgbClr val="183A1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144</Words>
  <Application>Microsoft Office PowerPoint</Application>
  <PresentationFormat>Grand écran</PresentationFormat>
  <Paragraphs>38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2" baseType="lpstr">
      <vt:lpstr>Arial</vt:lpstr>
      <vt:lpstr>Schibsted Grotesk</vt:lpstr>
      <vt:lpstr>Schibsted Grotesk Bold</vt:lpstr>
      <vt:lpstr>Calibri</vt:lpstr>
      <vt:lpstr>Cambria</vt:lpstr>
      <vt:lpstr>Fira Mono Medium</vt:lpstr>
      <vt:lpstr>Schibsted Grotesk Medium</vt:lpstr>
      <vt:lpstr>Schibsted Grotesk ExtraBold</vt:lpstr>
      <vt:lpstr>Office Theme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lastModifiedBy>Ayman Hrache</cp:lastModifiedBy>
  <cp:revision>4</cp:revision>
  <dcterms:created xsi:type="dcterms:W3CDTF">2026-10-05T21:16:48Z</dcterms:created>
  <dcterms:modified xsi:type="dcterms:W3CDTF">2026-10-05T21:46:29Z</dcterms:modified>
</cp:coreProperties>
</file>